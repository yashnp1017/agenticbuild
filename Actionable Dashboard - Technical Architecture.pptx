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3542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line: the Vantage mockup is a vision piece with static data. This deck is the pipeline that has to work underneath it. Two of the five stages are built and tested against a real inbox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reflects the use case as Andy defined it on the call: CEO persona, rolling seven-day window, dashboard plus chat. The design constraint at the bottom is his example directly — asked about an email from 27 May, the system should answer that it has only seen 1-31 July.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Stages 1 and 2 are done and tested against a real 3,685-message mailbox. Stage 2 matters more than it sounds: without it the model re-reads the same quoted text in every reply and extracts the same action three or four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Andy asked about SQL plus a vector DB. The honest answer at one-mailbox scale: you want the capability, not the infrastructure. FAISS gives semantic search as a library, no server to stand up. Flag here that Ollama will not run on the Coforge laptop, so model calls go to cloud APIs — which touches the open data-policy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credibility slide. If a number on the dashboard is wrong the whole thing is discredited, so nothing calculable is left to the model. Precision is deliberately favoured over recall.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open decision rather than a status claim. The evaluation harness is the commitment worth repeating: a real precision and recall number before a dashboard is shown, not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20" dirty="0">
                <a:solidFill>
                  <a:srgbClr val="F15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COFORGE AI CENTRE OF EXCELLENCE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Dashboard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15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22960" y="3520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3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reads the CEO's inbox and produces a working action register — not a mockup.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4526280"/>
            <a:ext cx="237744" cy="237744"/>
          </a:xfrm>
          <a:prstGeom prst="ellipse">
            <a:avLst/>
          </a:prstGeom>
          <a:solidFill>
            <a:srgbClr val="F15840"/>
          </a:solidFill>
          <a:ln w="19050">
            <a:solidFill>
              <a:srgbClr val="F15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60704" y="4645152"/>
            <a:ext cx="1133856" cy="0"/>
          </a:xfrm>
          <a:prstGeom prst="line">
            <a:avLst/>
          </a:prstGeom>
          <a:noFill/>
          <a:ln w="12700">
            <a:solidFill>
              <a:srgbClr val="3D58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4632" y="4864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15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94560" y="4526280"/>
            <a:ext cx="237744" cy="237744"/>
          </a:xfrm>
          <a:prstGeom prst="ellipse">
            <a:avLst/>
          </a:prstGeom>
          <a:solidFill>
            <a:srgbClr val="F15840"/>
          </a:solidFill>
          <a:ln w="19050">
            <a:solidFill>
              <a:srgbClr val="F15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32304" y="4645152"/>
            <a:ext cx="1133856" cy="0"/>
          </a:xfrm>
          <a:prstGeom prst="line">
            <a:avLst/>
          </a:prstGeom>
          <a:noFill/>
          <a:ln w="12700">
            <a:solidFill>
              <a:srgbClr val="3D58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856232" y="4864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15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4526280"/>
            <a:ext cx="237744" cy="237744"/>
          </a:xfrm>
          <a:prstGeom prst="ellipse">
            <a:avLst/>
          </a:prstGeom>
          <a:solidFill>
            <a:srgbClr val="082340"/>
          </a:solidFill>
          <a:ln w="19050">
            <a:solidFill>
              <a:srgbClr val="3D58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803904" y="4645152"/>
            <a:ext cx="1133856" cy="0"/>
          </a:xfrm>
          <a:prstGeom prst="line">
            <a:avLst/>
          </a:prstGeom>
          <a:noFill/>
          <a:ln w="12700">
            <a:solidFill>
              <a:srgbClr val="3D58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27832" y="4864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4526280"/>
            <a:ext cx="237744" cy="237744"/>
          </a:xfrm>
          <a:prstGeom prst="ellipse">
            <a:avLst/>
          </a:prstGeom>
          <a:solidFill>
            <a:srgbClr val="082340"/>
          </a:solidFill>
          <a:ln w="19050">
            <a:solidFill>
              <a:srgbClr val="3D58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175504" y="4645152"/>
            <a:ext cx="1133856" cy="0"/>
          </a:xfrm>
          <a:prstGeom prst="line">
            <a:avLst/>
          </a:prstGeom>
          <a:noFill/>
          <a:ln w="12700">
            <a:solidFill>
              <a:srgbClr val="3D58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99432" y="4864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09360" y="4526280"/>
            <a:ext cx="237744" cy="237744"/>
          </a:xfrm>
          <a:prstGeom prst="ellipse">
            <a:avLst/>
          </a:prstGeom>
          <a:solidFill>
            <a:srgbClr val="082340"/>
          </a:solidFill>
          <a:ln w="19050">
            <a:solidFill>
              <a:srgbClr val="3D58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71032" y="4864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2296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6809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Yash Patel  ·  AI Engineer Intern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 case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CEO does not need a smarter inbox. They need to know what requires them, and by when.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3319272" cy="2788920"/>
          </a:xfrm>
          <a:prstGeom prst="roundRect">
            <a:avLst>
              <a:gd name="adj" fmla="val 2623"/>
            </a:avLst>
          </a:prstGeom>
          <a:solidFill>
            <a:srgbClr val="F5F6F7"/>
          </a:solidFill>
          <a:ln w="12700">
            <a:solidFill>
              <a:srgbClr val="DCE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3000" y="2286000"/>
            <a:ext cx="566928" cy="566928"/>
          </a:xfrm>
          <a:prstGeom prst="ellipse">
            <a:avLst/>
          </a:prstGeom>
          <a:solidFill>
            <a:srgbClr val="F15840"/>
          </a:solidFill>
          <a:ln w="12700">
            <a:solidFill>
              <a:srgbClr val="F15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430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303580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full inbox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43000" y="34747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message ingested, cleaned and threaded — no rules for the user to configure, no folders to maintain.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965960"/>
            <a:ext cx="3319272" cy="2788920"/>
          </a:xfrm>
          <a:prstGeom prst="roundRect">
            <a:avLst>
              <a:gd name="adj" fmla="val 2623"/>
            </a:avLst>
          </a:prstGeom>
          <a:solidFill>
            <a:srgbClr val="F5F6F7"/>
          </a:solidFill>
          <a:ln w="12700">
            <a:solidFill>
              <a:srgbClr val="DCE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36592" y="2286000"/>
            <a:ext cx="566928" cy="566928"/>
          </a:xfrm>
          <a:prstGeom prst="ellipse">
            <a:avLst/>
          </a:prstGeom>
          <a:solidFill>
            <a:srgbClr val="F15840"/>
          </a:solidFill>
          <a:ln w="12700">
            <a:solidFill>
              <a:srgbClr val="F15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36592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36592" y="303580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7-day window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36592" y="34747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days back for what was asked and not yet answered. Seven days forward for what is coming due.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10144" y="1965960"/>
            <a:ext cx="3319272" cy="2788920"/>
          </a:xfrm>
          <a:prstGeom prst="roundRect">
            <a:avLst>
              <a:gd name="adj" fmla="val 2623"/>
            </a:avLst>
          </a:prstGeom>
          <a:solidFill>
            <a:srgbClr val="F5F6F7"/>
          </a:solidFill>
          <a:ln w="12700">
            <a:solidFill>
              <a:srgbClr val="DCE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30184" y="2286000"/>
            <a:ext cx="566928" cy="566928"/>
          </a:xfrm>
          <a:prstGeom prst="ellipse">
            <a:avLst/>
          </a:prstGeom>
          <a:solidFill>
            <a:srgbClr val="F15840"/>
          </a:solidFill>
          <a:ln w="12700">
            <a:solidFill>
              <a:srgbClr val="F15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30184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30184" y="303580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surfaces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30184" y="34747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action register of what needs a decision, and a chat window to interrogate the same underlying data.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07492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082340"/>
          </a:solidFill>
          <a:ln w="12700">
            <a:solidFill>
              <a:srgbClr val="0823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143000" y="50749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15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constraint:  </a:t>
            </a:r>
            <a:r>
              <a:rPr lang="en-US" sz="13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must state the boundaries of its own data. Asked about an email outside its window, it says so rather than guessing.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architecture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stages. Each one runs independently and can be re-run without re-fetching anything upstream.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47088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F5F6F7"/>
          </a:solidFill>
          <a:ln w="12700">
            <a:solidFill>
              <a:srgbClr val="F5F6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51560" y="1975104"/>
            <a:ext cx="420624" cy="420624"/>
          </a:xfrm>
          <a:prstGeom prst="ellipse">
            <a:avLst/>
          </a:prstGeom>
          <a:solidFill>
            <a:srgbClr val="082340"/>
          </a:solidFill>
          <a:ln w="12700">
            <a:solidFill>
              <a:srgbClr val="0823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51560" y="1975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91640" y="19751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Ingest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34840" y="1975104"/>
            <a:ext cx="5349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OAuth, incremental sync via historyId, raw messages stored locally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012680" y="2039112"/>
            <a:ext cx="1234440" cy="292608"/>
          </a:xfrm>
          <a:prstGeom prst="roundRect">
            <a:avLst>
              <a:gd name="adj" fmla="val 46875"/>
            </a:avLst>
          </a:prstGeom>
          <a:solidFill>
            <a:srgbClr val="00A792"/>
          </a:solidFill>
          <a:ln w="12700">
            <a:solidFill>
              <a:srgbClr val="00A79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12680" y="20391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51560" y="2816352"/>
            <a:ext cx="420624" cy="420624"/>
          </a:xfrm>
          <a:prstGeom prst="ellipse">
            <a:avLst/>
          </a:prstGeom>
          <a:solidFill>
            <a:srgbClr val="082340"/>
          </a:solidFill>
          <a:ln w="12700">
            <a:solidFill>
              <a:srgbClr val="0823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51560" y="2816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91640" y="28163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Normalisation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2816352"/>
            <a:ext cx="5349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Strips quoted chains and signatures; one clean transcript per conversation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012680" y="2880360"/>
            <a:ext cx="1234440" cy="292608"/>
          </a:xfrm>
          <a:prstGeom prst="roundRect">
            <a:avLst>
              <a:gd name="adj" fmla="val 46875"/>
            </a:avLst>
          </a:prstGeom>
          <a:solidFill>
            <a:srgbClr val="00A792"/>
          </a:solidFill>
          <a:ln w="12700">
            <a:solidFill>
              <a:srgbClr val="00A79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12680" y="288036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3529584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F5F6F7"/>
          </a:solidFill>
          <a:ln w="12700">
            <a:solidFill>
              <a:srgbClr val="F5F6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51560" y="3657600"/>
            <a:ext cx="420624" cy="420624"/>
          </a:xfrm>
          <a:prstGeom prst="ellipse">
            <a:avLst/>
          </a:prstGeom>
          <a:solidFill>
            <a:srgbClr val="082340"/>
          </a:solidFill>
          <a:ln w="12700">
            <a:solidFill>
              <a:srgbClr val="0823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51560" y="3657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91640" y="365760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434840" y="3657600"/>
            <a:ext cx="5349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actions, owners and deadlines pulled from each transcript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10012680" y="3721608"/>
            <a:ext cx="1234440" cy="292608"/>
          </a:xfrm>
          <a:prstGeom prst="roundRect">
            <a:avLst>
              <a:gd name="adj" fmla="val 46875"/>
            </a:avLst>
          </a:prstGeom>
          <a:solidFill>
            <a:srgbClr val="F15840"/>
          </a:solidFill>
          <a:ln w="12700">
            <a:solidFill>
              <a:srgbClr val="F15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012680" y="372160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51560" y="4498848"/>
            <a:ext cx="420624" cy="420624"/>
          </a:xfrm>
          <a:prstGeom prst="ellipse">
            <a:avLst/>
          </a:prstGeom>
          <a:solidFill>
            <a:srgbClr val="082340"/>
          </a:solidFill>
          <a:ln w="12700">
            <a:solidFill>
              <a:srgbClr val="0823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51560" y="4498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691640" y="449884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Register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434840" y="4498848"/>
            <a:ext cx="5349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Deduplicated, ranked and persisted with state — open, done, dismissed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0012680" y="4562856"/>
            <a:ext cx="1234440" cy="292608"/>
          </a:xfrm>
          <a:prstGeom prst="roundRect">
            <a:avLst>
              <a:gd name="adj" fmla="val 46875"/>
            </a:avLst>
          </a:prstGeom>
          <a:solidFill>
            <a:srgbClr val="8A94A0"/>
          </a:solidFill>
          <a:ln w="12700">
            <a:solidFill>
              <a:srgbClr val="8A9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0012680" y="45628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22960" y="521208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F5F6F7"/>
          </a:solidFill>
          <a:ln w="12700">
            <a:solidFill>
              <a:srgbClr val="F5F6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051560" y="5340096"/>
            <a:ext cx="420624" cy="420624"/>
          </a:xfrm>
          <a:prstGeom prst="ellipse">
            <a:avLst/>
          </a:prstGeom>
          <a:solidFill>
            <a:srgbClr val="082340"/>
          </a:solidFill>
          <a:ln w="12700">
            <a:solidFill>
              <a:srgbClr val="0823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051560" y="5340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691640" y="534009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434840" y="5340096"/>
            <a:ext cx="5349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 and chat window over the same store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10012680" y="5404104"/>
            <a:ext cx="1234440" cy="292608"/>
          </a:xfrm>
          <a:prstGeom prst="roundRect">
            <a:avLst>
              <a:gd name="adj" fmla="val 46875"/>
            </a:avLst>
          </a:prstGeom>
          <a:solidFill>
            <a:srgbClr val="8A94A0"/>
          </a:solidFill>
          <a:ln w="12700">
            <a:solidFill>
              <a:srgbClr val="8A9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012680" y="54041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never overwrites the original message. Every rule change is re-runnable against untouched source data — no re-sync from Gmail, ever.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and storage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 in SQL, semantic search over an index alongside it. Both read from the same source of truth.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6949440" cy="603504"/>
          </a:xfrm>
          <a:prstGeom prst="roundRect">
            <a:avLst>
              <a:gd name="adj" fmla="val 9091"/>
            </a:avLst>
          </a:prstGeom>
          <a:solidFill>
            <a:srgbClr val="F5F6F7"/>
          </a:solidFill>
          <a:ln w="12700">
            <a:solidFill>
              <a:srgbClr val="DCE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1965960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788920" y="19659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register dashboard  ·  Chat window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679192"/>
            <a:ext cx="6949440" cy="603504"/>
          </a:xfrm>
          <a:prstGeom prst="roundRect">
            <a:avLst>
              <a:gd name="adj" fmla="val 9091"/>
            </a:avLst>
          </a:prstGeom>
          <a:solidFill>
            <a:srgbClr val="F5F6F7"/>
          </a:solidFill>
          <a:ln w="12700">
            <a:solidFill>
              <a:srgbClr val="DCE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97280" y="2679192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788920" y="2679192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— extraction and chat  ·  Voyage AI — embeddings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392424"/>
            <a:ext cx="6949440" cy="603504"/>
          </a:xfrm>
          <a:prstGeom prst="roundRect">
            <a:avLst>
              <a:gd name="adj" fmla="val 9091"/>
            </a:avLst>
          </a:prstGeom>
          <a:solidFill>
            <a:srgbClr val="F5F6F7"/>
          </a:solidFill>
          <a:ln w="12700">
            <a:solidFill>
              <a:srgbClr val="DCE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97280" y="3392424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788920" y="3392424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semantic index  +  SQLite FTS5 keyword search (hybrid)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105656"/>
            <a:ext cx="6949440" cy="603504"/>
          </a:xfrm>
          <a:prstGeom prst="roundRect">
            <a:avLst>
              <a:gd name="adj" fmla="val 9091"/>
            </a:avLst>
          </a:prstGeom>
          <a:solidFill>
            <a:srgbClr val="F5F6F7"/>
          </a:solidFill>
          <a:ln w="12700">
            <a:solidFill>
              <a:srgbClr val="DCE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97280" y="4105656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88920" y="4105656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— messages, thread transcripts, action register, sync state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818888"/>
            <a:ext cx="6949440" cy="603504"/>
          </a:xfrm>
          <a:prstGeom prst="roundRect">
            <a:avLst>
              <a:gd name="adj" fmla="val 9091"/>
            </a:avLst>
          </a:prstGeom>
          <a:solidFill>
            <a:srgbClr val="082340"/>
          </a:solidFill>
          <a:ln w="12700">
            <a:solidFill>
              <a:srgbClr val="0823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97280" y="4818888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C9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788920" y="4818888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4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API — OAuth, read-only scope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92440" y="1965960"/>
            <a:ext cx="324612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5F8A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12480" y="2148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F8A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lookups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0" y="25146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Dates, counts, coverage window, action status. Answered in SQL — exact, and never model-generated.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92440" y="3931920"/>
            <a:ext cx="324612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F15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412480" y="4114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5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412480" y="448056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did Klaus say about the deal” finds an email that says expansion pricing. Meaning, not keywords.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85216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separate vector server to run at this scale — FAISS is a local index inside the Python process.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is, and is not, allowed to decide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 that keeps the output auditable rather than merely fluent.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5120640" cy="2971800"/>
          </a:xfrm>
          <a:prstGeom prst="roundRect">
            <a:avLst>
              <a:gd name="adj" fmla="val 2462"/>
            </a:avLst>
          </a:prstGeom>
          <a:solidFill>
            <a:srgbClr val="F5F6F7"/>
          </a:solidFill>
          <a:ln w="12700">
            <a:solidFill>
              <a:srgbClr val="DCE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43000" y="22402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40" dirty="0">
                <a:solidFill>
                  <a:srgbClr val="5F8A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IN CODE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43000" y="26517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Dates, deadlines and how many days remain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age and time since last reply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history — volume, typical response latency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messages exist, and the coverage window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status and ranking weights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965960"/>
            <a:ext cx="5120640" cy="2971800"/>
          </a:xfrm>
          <a:prstGeom prst="roundRect">
            <a:avLst>
              <a:gd name="adj" fmla="val 2462"/>
            </a:avLst>
          </a:prstGeom>
          <a:solidFill>
            <a:srgbClr val="F5F6F7"/>
          </a:solidFill>
          <a:ln w="12700">
            <a:solidFill>
              <a:srgbClr val="DCE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37960" y="22402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40" dirty="0">
                <a:solidFill>
                  <a:srgbClr val="F15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JUDGEMENT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37960" y="26517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thread actually asking something of me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specifically is being asked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urgent does the tone read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the next step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reply, for a human to approve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5257800"/>
            <a:ext cx="10515600" cy="868680"/>
          </a:xfrm>
          <a:prstGeom prst="roundRect">
            <a:avLst>
              <a:gd name="adj" fmla="val 8421"/>
            </a:avLst>
          </a:prstGeom>
          <a:solidFill>
            <a:srgbClr val="082340"/>
          </a:solidFill>
          <a:ln w="12700">
            <a:solidFill>
              <a:srgbClr val="0823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43000" y="52578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card links back to the exact email it came from.  </a:t>
            </a:r>
            <a:r>
              <a:rPr lang="en-US" sz="1400" dirty="0">
                <a:solidFill>
                  <a:srgbClr val="AEC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item is recoverable. A fabricated one ends the project.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stages built and validated against a real mailbox. Three to go.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40" dirty="0">
                <a:solidFill>
                  <a:srgbClr val="00A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F5F6F7"/>
          </a:solidFill>
          <a:ln w="12700">
            <a:solidFill>
              <a:srgbClr val="DCE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97280" y="2633472"/>
            <a:ext cx="384048" cy="384048"/>
          </a:xfrm>
          <a:prstGeom prst="ellipse">
            <a:avLst/>
          </a:prstGeom>
          <a:solidFill>
            <a:srgbClr val="00A792"/>
          </a:solidFill>
          <a:ln w="12700">
            <a:solidFill>
              <a:srgbClr val="00A79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45920" y="247802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ingest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645920" y="276148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OAuth against a real inbox. 3,685 messages across 3,358 threads pulled and stored.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356616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F5F6F7"/>
          </a:solidFill>
          <a:ln w="12700">
            <a:solidFill>
              <a:srgbClr val="DCE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97280" y="3867912"/>
            <a:ext cx="384048" cy="384048"/>
          </a:xfrm>
          <a:prstGeom prst="ellipse">
            <a:avLst/>
          </a:prstGeom>
          <a:solidFill>
            <a:srgbClr val="00A792"/>
          </a:solidFill>
          <a:ln w="12700">
            <a:solidFill>
              <a:srgbClr val="00A79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9728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45920" y="37124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normalisation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645920" y="399592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 chains and signature blocks stripped. Roughly half the characters removed with no loss of content.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17920" y="1920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40" dirty="0">
                <a:solidFill>
                  <a:srgbClr val="F15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09360" y="2441448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15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09360" y="2441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5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12280" y="23774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12280" y="26517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actions from each transcript.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309360" y="3264408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15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309360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5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12280" y="32004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harness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12280" y="34747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hand-labelled emails, precision and recall reported before any dashboard is shown.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087368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15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0936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5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12280" y="40233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register + surfaces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12280" y="4297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B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Persisted state, then dashboard and chat.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22960" y="516636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DCE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143000" y="51663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5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decision:  </a:t>
            </a:r>
            <a:r>
              <a:rPr lang="en-US" sz="13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will not run on the Coforge laptop, so model calls go to cloud APIs — meaning email content leaves the machine. Flagging this against the data-policy question before extraction is built.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965</Words>
  <Application>Microsoft Office PowerPoint</Application>
  <PresentationFormat>Widescreen</PresentationFormat>
  <Paragraphs>109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Actionable Dashboard - Technical Architecture</dc:title>
  <dc:subject>PptxGenJS Presentation</dc:subject>
  <dc:creator>Yash Patel</dc:creator>
  <cp:lastModifiedBy>Yash Patel</cp:lastModifiedBy>
  <cp:revision>3</cp:revision>
  <dcterms:created xsi:type="dcterms:W3CDTF">2026-07-30T15:25:45Z</dcterms:created>
  <dcterms:modified xsi:type="dcterms:W3CDTF">2026-07-30T16:10:28Z</dcterms:modified>
</cp:coreProperties>
</file>